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6432f3d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6432f3d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26432f3d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26432f3d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26432f3d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26432f3d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2c53b17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2c53b17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2c53b173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2c53b17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2c53b173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2c53b17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2c53b173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2c53b173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2c53b173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2c53b173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c53b173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2c53b173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2c53b173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2c53b173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489800"/>
            <a:ext cx="9144000" cy="365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401125"/>
            <a:ext cx="9144000" cy="1863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83025" y="160020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220"/>
              <a:t>Retail / E-commerce Performance Analysis</a:t>
            </a:r>
            <a:endParaRPr b="1" sz="422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83025" y="25700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Sales, Profitability, and Discount Impact (2014–2017)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381000" y="3005625"/>
            <a:ext cx="8222100" cy="5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Analyst: Tony Deehan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Portfolio Project | March 2026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Problem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0000" lIns="90000" spcFirstLastPara="1" rIns="91425" wrap="square" tIns="162000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Sales performance</a:t>
            </a:r>
            <a:r>
              <a:rPr lang="en-GB" sz="1600"/>
              <a:t> has been growing over time, but profitability does not always follow the same trend.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/>
              <a:t>Discounting</a:t>
            </a:r>
            <a:r>
              <a:rPr lang="en-GB" sz="1600"/>
              <a:t> is widely used across product categories, but its impact on profit margins is unclear.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Different </a:t>
            </a:r>
            <a:r>
              <a:rPr b="1" lang="en-GB" sz="1600"/>
              <a:t>product categories</a:t>
            </a:r>
            <a:r>
              <a:rPr lang="en-GB" sz="1600"/>
              <a:t> may perform differently in terms of revenue and profitability.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 business needs to understand how </a:t>
            </a:r>
            <a:r>
              <a:rPr b="1" lang="en-GB" sz="1600"/>
              <a:t>sales, profit, and discounting</a:t>
            </a:r>
            <a:r>
              <a:rPr lang="en-GB" sz="1600"/>
              <a:t> interact to make better decisions.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 &amp; Structure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4023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465"/>
              <a:t>Dataset: Superstore retail dataset (2014–2017)</a:t>
            </a:r>
            <a:endParaRPr b="1" sz="1465"/>
          </a:p>
          <a:p>
            <a:pPr indent="-32162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5"/>
              <a:buChar char="●"/>
            </a:pPr>
            <a:r>
              <a:rPr lang="en-GB" sz="1465"/>
              <a:t>Contains transactional sales data across multiple product categories</a:t>
            </a:r>
            <a:endParaRPr sz="1465"/>
          </a:p>
          <a:p>
            <a:pPr indent="-32162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5"/>
              <a:buChar char="●"/>
            </a:pPr>
            <a:r>
              <a:rPr lang="en-GB" sz="1465"/>
              <a:t>Each row represents a single customer order</a:t>
            </a:r>
            <a:endParaRPr sz="1465"/>
          </a:p>
          <a:p>
            <a:pPr indent="-32162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5"/>
              <a:buChar char="●"/>
            </a:pPr>
            <a:r>
              <a:rPr lang="en-GB" sz="1465"/>
              <a:t>Used to analyse sales performance, profitability, and discounting behaviour</a:t>
            </a:r>
            <a:endParaRPr sz="14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65"/>
              <a:t>*Note: Analysis focuses on revenue and profit      metrics; marketing cost data is not included.</a:t>
            </a:r>
            <a:endParaRPr sz="1465"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43275" y="1919075"/>
            <a:ext cx="4023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Key Fields: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Sales – total revenue per order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Profit – profit per order after costs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Profit Margin – profit as a percentage of sales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Discount – percentage reduction applied to the order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Category – product category (Furniture, Office Supplies, Technology)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Order Date – used for time-based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Business Questions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have </a:t>
            </a:r>
            <a:r>
              <a:rPr b="1" lang="en-GB"/>
              <a:t>sales and profit trended</a:t>
            </a:r>
            <a:r>
              <a:rPr lang="en-GB"/>
              <a:t> over time?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Are </a:t>
            </a:r>
            <a:r>
              <a:rPr b="1" lang="en-GB"/>
              <a:t>increases in sales</a:t>
            </a:r>
            <a:r>
              <a:rPr lang="en-GB"/>
              <a:t> translating into higher </a:t>
            </a:r>
            <a:r>
              <a:rPr b="1" lang="en-GB"/>
              <a:t>profitability</a:t>
            </a:r>
            <a:r>
              <a:rPr lang="en-GB"/>
              <a:t>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does </a:t>
            </a:r>
            <a:r>
              <a:rPr b="1" lang="en-GB"/>
              <a:t>discounting</a:t>
            </a:r>
            <a:r>
              <a:rPr lang="en-GB"/>
              <a:t> impact </a:t>
            </a:r>
            <a:r>
              <a:rPr b="1" lang="en-GB"/>
              <a:t>profit margins</a:t>
            </a:r>
            <a:r>
              <a:rPr lang="en-GB"/>
              <a:t>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Which product </a:t>
            </a:r>
            <a:r>
              <a:rPr b="1" lang="en-GB"/>
              <a:t>categories</a:t>
            </a:r>
            <a:r>
              <a:rPr lang="en-GB"/>
              <a:t> perform best in terms of </a:t>
            </a:r>
            <a:r>
              <a:rPr b="1" lang="en-GB"/>
              <a:t>revenue</a:t>
            </a:r>
            <a:r>
              <a:rPr lang="en-GB"/>
              <a:t> and </a:t>
            </a:r>
            <a:r>
              <a:rPr b="1" lang="en-GB"/>
              <a:t>profit</a:t>
            </a:r>
            <a:r>
              <a:rPr lang="en-GB"/>
              <a:t>?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Are certain </a:t>
            </a:r>
            <a:r>
              <a:rPr b="1" lang="en-GB"/>
              <a:t>categories</a:t>
            </a:r>
            <a:r>
              <a:rPr lang="en-GB"/>
              <a:t> more reliant on </a:t>
            </a:r>
            <a:r>
              <a:rPr b="1" lang="en-GB"/>
              <a:t>discounting</a:t>
            </a:r>
            <a:r>
              <a:rPr lang="en-GB"/>
              <a:t> than others?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vs Profit Trend Over Time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201300" y="1666937"/>
            <a:ext cx="3597900" cy="31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Sales show a clear upward trend over time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Profit is more volatile and does not consistently follow sales growth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Periods of high sales do not always correspond to high profitability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This suggests underlying factors (such as discounting) impacting margins</a:t>
            </a:r>
            <a:endParaRPr/>
          </a:p>
        </p:txBody>
      </p:sp>
      <p:pic>
        <p:nvPicPr>
          <p:cNvPr id="95" name="Google Shape;95;p17" title="line chart retai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625" y="1526175"/>
            <a:ext cx="4913998" cy="346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&amp; Profit by Product Category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36350" y="1591100"/>
            <a:ext cx="3597900" cy="31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GB" sz="1650"/>
              <a:t>Technology generates the highest sales and profit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GB" sz="1650"/>
              <a:t>Office Supplies performs strongly in profit relative to its sales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GB" sz="1650"/>
              <a:t>Furniture generates high sales but significantly lower profit</a:t>
            </a:r>
            <a:endParaRPr sz="1650"/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b="1" lang="en-GB" sz="1650"/>
              <a:t>This suggests profitability varies across categories, not just revenue</a:t>
            </a:r>
            <a:endParaRPr sz="2100"/>
          </a:p>
        </p:txBody>
      </p:sp>
      <p:pic>
        <p:nvPicPr>
          <p:cNvPr id="102" name="Google Shape;102;p18" title="Sales &amp; Profit by Product 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001" y="1591100"/>
            <a:ext cx="4699998" cy="346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of Discounts on Profit Margins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36350" y="1799325"/>
            <a:ext cx="3597900" cy="28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-GB" sz="1550"/>
              <a:t>There is a clear negative relationship between discounts and profit margin</a:t>
            </a:r>
            <a:endParaRPr b="1"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GB" sz="1550"/>
              <a:t>As discount levels increase, profit margins consistently decrease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GB" sz="1550"/>
              <a:t>High discount levels frequently result in negative profit margins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GB" sz="1550"/>
              <a:t>Furniture </a:t>
            </a:r>
            <a:r>
              <a:rPr lang="en-GB" sz="1550"/>
              <a:t>shows the steepest decline, indicating higher sensitivity to discounting</a:t>
            </a:r>
            <a:endParaRPr sz="2000"/>
          </a:p>
        </p:txBody>
      </p:sp>
      <p:pic>
        <p:nvPicPr>
          <p:cNvPr id="109" name="Google Shape;109;p19" title="Sales &amp; Profit by Product 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001" y="1591100"/>
            <a:ext cx="4699998" cy="346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 title="How Discounts Impact Profit Margins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7427" y="1515325"/>
            <a:ext cx="4959749" cy="346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Discount Usage by Product Category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244575" y="1727625"/>
            <a:ext cx="3597900" cy="30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-GB" sz="1550"/>
              <a:t>Discounting is widely used across all product categories</a:t>
            </a:r>
            <a:endParaRPr b="1"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en-GB" sz="1550"/>
              <a:t>Office Supplies</a:t>
            </a:r>
            <a:r>
              <a:rPr lang="en-GB" sz="1550"/>
              <a:t> shows the highest concentration of low-to-mid discounts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GB" sz="1550"/>
              <a:t>Higher discount levels are used less frequently but still present across categories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-GB" sz="1550"/>
              <a:t>• Discounting behaviour is consistent across categories, not isolated to one segment</a:t>
            </a:r>
            <a:endParaRPr sz="1550"/>
          </a:p>
        </p:txBody>
      </p:sp>
      <p:pic>
        <p:nvPicPr>
          <p:cNvPr id="117" name="Google Shape;117;p20" title="Discount Usage by Product 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15325"/>
            <a:ext cx="4206249" cy="346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Insights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71900" y="1775125"/>
            <a:ext cx="82221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1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n-GB" sz="1629"/>
              <a:t>Sales</a:t>
            </a:r>
            <a:r>
              <a:rPr lang="en-GB" sz="1629"/>
              <a:t> have grown steadily over time, but </a:t>
            </a:r>
            <a:r>
              <a:rPr b="1" lang="en-GB" sz="1629"/>
              <a:t>profitability</a:t>
            </a:r>
            <a:r>
              <a:rPr lang="en-GB" sz="1629"/>
              <a:t> has not followed at the same rate</a:t>
            </a:r>
            <a:endParaRPr sz="1629"/>
          </a:p>
          <a:p>
            <a:pPr indent="-3321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-GB" sz="1629"/>
              <a:t>Higher sales </a:t>
            </a:r>
            <a:r>
              <a:rPr b="1" lang="en-GB" sz="1629"/>
              <a:t>do not always translate</a:t>
            </a:r>
            <a:r>
              <a:rPr lang="en-GB" sz="1629"/>
              <a:t> into higher profit, indicating margin pressure</a:t>
            </a:r>
            <a:endParaRPr sz="1629"/>
          </a:p>
          <a:p>
            <a:pPr indent="-3321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n-GB" sz="1629"/>
              <a:t>Discounting has a clear negative impact on profit margins across all categories</a:t>
            </a:r>
            <a:endParaRPr b="1" sz="1629"/>
          </a:p>
          <a:p>
            <a:pPr indent="-3321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n-GB" sz="1629"/>
              <a:t>Furniture</a:t>
            </a:r>
            <a:r>
              <a:rPr lang="en-GB" sz="1629"/>
              <a:t> is the most affected category, showing the </a:t>
            </a:r>
            <a:r>
              <a:rPr b="1" lang="en-GB" sz="1629"/>
              <a:t>steepest decline in profitability</a:t>
            </a:r>
            <a:r>
              <a:rPr lang="en-GB" sz="1629"/>
              <a:t> with </a:t>
            </a:r>
            <a:r>
              <a:rPr b="1" lang="en-GB" sz="1629"/>
              <a:t>increased discounting</a:t>
            </a:r>
            <a:endParaRPr b="1" sz="1629"/>
          </a:p>
          <a:p>
            <a:pPr indent="-33210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-GB" sz="1629"/>
              <a:t>Discounting is widely used across the business, suggesting a systemic reliance on price reductions</a:t>
            </a:r>
            <a:endParaRPr sz="162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71900" y="1872525"/>
            <a:ext cx="82221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b="1" lang="en-GB" sz="1729"/>
              <a:t>Reduce high discount levels</a:t>
            </a:r>
            <a:r>
              <a:rPr lang="en-GB" sz="1729"/>
              <a:t>, particularly in categories with </a:t>
            </a:r>
            <a:r>
              <a:rPr b="1" lang="en-GB" sz="1729"/>
              <a:t>low profit margins</a:t>
            </a:r>
            <a:endParaRPr b="1"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en-GB" sz="1729"/>
              <a:t>Review pricing and cost structures in </a:t>
            </a:r>
            <a:r>
              <a:rPr b="1" lang="en-GB" sz="1729"/>
              <a:t>Furniture</a:t>
            </a:r>
            <a:r>
              <a:rPr lang="en-GB" sz="1729"/>
              <a:t> to improve profitability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en-GB" sz="1729"/>
              <a:t>Focus on growing </a:t>
            </a:r>
            <a:r>
              <a:rPr b="1" lang="en-GB" sz="1729"/>
              <a:t>high-performing categories</a:t>
            </a:r>
            <a:r>
              <a:rPr lang="en-GB" sz="1729"/>
              <a:t> such as Technology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en-GB" sz="1729"/>
              <a:t>Implement stricter </a:t>
            </a:r>
            <a:r>
              <a:rPr b="1" lang="en-GB" sz="1729"/>
              <a:t>monitoring of profit margins</a:t>
            </a:r>
            <a:r>
              <a:rPr lang="en-GB" sz="1729"/>
              <a:t> alongside sales performance</a:t>
            </a:r>
            <a:endParaRPr sz="1729"/>
          </a:p>
          <a:p>
            <a:pPr indent="-3384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Char char="●"/>
            </a:pPr>
            <a:r>
              <a:rPr lang="en-GB" sz="1729"/>
              <a:t>Test alternative strategies (e.g. </a:t>
            </a:r>
            <a:r>
              <a:rPr b="1" lang="en-GB" sz="1729"/>
              <a:t>targeted promotions</a:t>
            </a:r>
            <a:r>
              <a:rPr lang="en-GB" sz="1729"/>
              <a:t>) instead of broad discounting</a:t>
            </a:r>
            <a:endParaRPr sz="1729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71900" y="4126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431075" y="1623600"/>
            <a:ext cx="42216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Superstore retail dataset (2014–2017)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(data exploration &amp; analysis)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 Public (data visualisation &amp; dashboarding)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Notes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Profit Margin calculated as Profit ÷ Sales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row represents a single order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Discount values represent % reductions applied per order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29"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572000" y="1623600"/>
            <a:ext cx="43011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Links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Tableau Dashboard: https://public.tableau.com/views/RetailE-CommercePerformance/RetailPerformanceOverview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Repository: [insert link]</a:t>
            </a:r>
            <a:endParaRPr b="1" sz="172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